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CS131 FINAL PROJECT  •  DEMO 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at 10 m?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study of static, texture, and blade-motion cues for wind-turbine detection in Sentinel-2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One]  ·  [Author Two]  ·  [Author Three]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University</a:t>
            </a:r>
            <a:endParaRPr lang="en-US" sz="1500" dirty="0"/>
          </a:p>
        </p:txBody>
      </p:sp>
      <p:pic>
        <p:nvPicPr>
          <p:cNvPr id="7" name="Image 0" descr="/sessions/beautiful-intelligent-franklin/mnt/cs131/turbinecount_v2/artifacts/fig_casestudy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554480"/>
            <a:ext cx="3977640" cy="2679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18120" y="422452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turbine (top) vs background (bottom): the blade-motion fringe is the signal.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SIGNIFICANCE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detect turbines that are actually turning?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44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3444240" cy="109728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40280"/>
            <a:ext cx="2932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Free, every 5 days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926080"/>
            <a:ext cx="29321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is free and global. Official inventories (USWTDB, EIA-860) lag by months; sub-meter aerial imagery is flown only every 2-3 years and cannot nowcast.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58640" y="1874520"/>
            <a:ext cx="3444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8640" y="1874520"/>
            <a:ext cx="344424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14672" y="2240280"/>
            <a:ext cx="2932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Rotation = generation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4672" y="2926080"/>
            <a:ext cx="29321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cue fires only on spinning blades, a direct proxy for whether a turbine is generating, not just installed. Idle turbines are correctly invisible.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68640" y="1874520"/>
            <a:ext cx="3444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68640" y="1874520"/>
            <a:ext cx="3444240" cy="109728"/>
          </a:xfrm>
          <a:prstGeom prst="rect">
            <a:avLst/>
          </a:prstGeom>
          <a:solidFill>
            <a:srgbClr val="E0A325"/>
          </a:solidFill>
          <a:ln/>
        </p:spPr>
      </p:sp>
      <p:sp>
        <p:nvSpPr>
          <p:cNvPr id="14" name="Text 12"/>
          <p:cNvSpPr/>
          <p:nvPr/>
        </p:nvSpPr>
        <p:spPr>
          <a:xfrm>
            <a:off x="8424672" y="2240280"/>
            <a:ext cx="2932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Data-center power diligence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24672" y="2926080"/>
            <a:ext cx="29321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 in data centers, pairing which nearby turbines are spinning with their capacity estimates the real wind share feeding a project's grid region, and tests its clean-power claims.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at 10 m a turbine is only a few pixels, and on bright or textured ground it is resolved but not locally salient, so appearance-based detection fails on most scenes.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blade motion from a sensor artifact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exposes its color bands at slightly different times: </a:t>
            </a:r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+0.324 s and red +1.005 s after blue</a:t>
            </a:r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because the detectors are offset on the focal plane.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blade tip moves tens of meters in that window, so an operating turbine sits at displaced pixels across the bands and leaves a localized </a:t>
            </a:r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red-blue color fringe</a:t>
            </a:r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static object (field, building, pad) leaves none. We engineer 19 interpretable features from that fringe, from scratch.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signal the leading 10 m detector (Mandroux et al.) deliberately discards by using the blue band only.</a:t>
            </a:r>
            <a:endParaRPr lang="en-US" sz="1400" dirty="0"/>
          </a:p>
        </p:txBody>
      </p:sp>
      <p:pic>
        <p:nvPicPr>
          <p:cNvPr id="7" name="Image 0" descr="/sessions/beautiful-intelligent-franklin/mnt/cs131/turbinecount_v2/report/figs/fig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91640"/>
            <a:ext cx="5074920" cy="4069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58064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Sentinel-2, Golden Hills OR: the turbine is barely brighter in true color, yet a sharp red-blue dipole appears.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cue families, one fair benchmark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1508760"/>
          </a:xfrm>
          <a:prstGeom prst="rect">
            <a:avLst/>
          </a:prstGeom>
          <a:solidFill>
            <a:srgbClr val="5C6B7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93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CS131 static primitives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Gaussian, Sobel, Hough, Harris, matched template. From scratch. The documented fallback.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828800"/>
            <a:ext cx="109728" cy="1508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93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salience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48716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Center-vs-surround brightness z-scores. The binding appearance cue at 10 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109728" cy="1508760"/>
          </a:xfrm>
          <a:prstGeom prst="rect">
            <a:avLst/>
          </a:prstGeom>
          <a:solidFill>
            <a:srgbClr val="E0A32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221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 + linear SVM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generic-appearance baseline (96-D descriptor).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657600"/>
            <a:ext cx="5349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657600"/>
            <a:ext cx="109728" cy="150876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8221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Band-parallax (novel)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31596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interpretable blade-motion features from the inter-band fringe.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 </a:t>
            </a:r>
            <a:pPr algn="ctr"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US projects, 35 states  ·  10,634 patches  ·  grouped by whole farm (no leakage)  ·  GroupKFold CV  ·  one locked test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works: motion beats appearance at 10 m</a:t>
            </a:r>
            <a:endParaRPr lang="en-US" sz="2800" dirty="0"/>
          </a:p>
        </p:txBody>
      </p:sp>
      <p:pic>
        <p:nvPicPr>
          <p:cNvPr id="4" name="Image 0" descr="/sessions/beautiful-intelligent-franklin/mnt/cs131/turbinecount_v2/report/figs/fig_effective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33101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4924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5349240"/>
            <a:ext cx="91440" cy="105156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458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Parallax alone 0.952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5852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family, above HOG (0.938) and salience (0.948)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534924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3400" y="5349240"/>
            <a:ext cx="91440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5458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Fused 0.971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0" y="5852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parallax + salience; adding HOG or CS131 does not help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5349240"/>
            <a:ext cx="3474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0" y="5349240"/>
            <a:ext cx="91440" cy="1051560"/>
          </a:xfrm>
          <a:prstGeom prst="rect">
            <a:avLst/>
          </a:prstGeom>
          <a:solidFill>
            <a:srgbClr val="E0A325"/>
          </a:solidFill>
          <a:ln/>
        </p:spPr>
      </p:sp>
      <p:sp>
        <p:nvSpPr>
          <p:cNvPr id="15" name="Text 12"/>
          <p:cNvSpPr/>
          <p:nvPr/>
        </p:nvSpPr>
        <p:spPr>
          <a:xfrm>
            <a:off x="8366760" y="5458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 on bright terrain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66760" y="5852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 where appearance collapses (CS131 falls to 0.707)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motion, and where it wins or fails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motion or just contrast?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after removing contrast: AUC 0.763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fixed-contrast bins: parallax 0.759 vs salience 0.527 (chance)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Label-shuffle control: 0.490 (no leakage)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cue measures rotation, not presence.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 spinning fleets: </a:t>
            </a:r>
            <a:pPr indent="0" marL="0"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Hills, Rockland (even on hard terrain).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idle fleets: </a:t>
            </a:r>
            <a:pPr indent="0" marL="0"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Roundhouse and Shamrock (48 visible turbines, 0 detected) were not turning, so there is no fringe to read.</a:t>
            </a:r>
            <a:endParaRPr lang="en-US" sz="1450" dirty="0"/>
          </a:p>
        </p:txBody>
      </p:sp>
      <p:pic>
        <p:nvPicPr>
          <p:cNvPr id="9" name="Image 0" descr="/sessions/beautiful-intelligent-franklin/mnt/cs131/turbinecount_v2/report/figs/fig_sepa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194560"/>
            <a:ext cx="5257800" cy="2926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516636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Red-blue fringe peak, turbine vs background, on four re-fetched projects.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LEARNINGS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gap: ranking is not detecting</a:t>
            </a:r>
            <a:endParaRPr lang="en-US" sz="2800" dirty="0"/>
          </a:p>
        </p:txBody>
      </p:sp>
      <p:pic>
        <p:nvPicPr>
          <p:cNvPr id="4" name="Image 0" descr="/sessions/beautiful-intelligent-franklin/mnt/cs131/turbinecount_v2/artifacts/fig_count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393192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1874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A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AUC (rank a candidate point)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84632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0.39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F1 as a real detector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846320" y="4069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0.13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R-squared vs ground truth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0" y="1874520"/>
            <a:ext cx="3520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pre-placed points is far easier than committing to detections.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Random-background negatives make the AUC optimistic.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turbines cap recall against installed-count truth.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honest accounting of what each cue is worth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115568"/>
          </a:xfrm>
          <a:prstGeom prst="rect">
            <a:avLst/>
          </a:prstGeom>
          <a:solidFill>
            <a:srgbClr val="14384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109728" cy="1115568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7685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Motion is a real cue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225856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Sentinel-2 inter-band parallax is an interpretable, contrast-separable signal of an operating turbine, and the most salience-robust family on bright terrain.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447288"/>
            <a:ext cx="11064240" cy="1115568"/>
          </a:xfrm>
          <a:prstGeom prst="rect">
            <a:avLst/>
          </a:prstGeom>
          <a:solidFill>
            <a:srgbClr val="14384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447288"/>
            <a:ext cx="109728" cy="1115568"/>
          </a:xfrm>
          <a:prstGeom prst="rect">
            <a:avLst/>
          </a:prstGeom>
          <a:solidFill>
            <a:srgbClr val="E0A32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7530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Textbook primitives mostly fail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3557016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 m the CS131 family reduces to one Sobel-energy feature; Hough is at chance and HOG adds nothing over the engineered cues.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45736"/>
            <a:ext cx="11064240" cy="1115568"/>
          </a:xfrm>
          <a:prstGeom prst="rect">
            <a:avLst/>
          </a:prstGeom>
          <a:solidFill>
            <a:srgbClr val="14384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745736"/>
            <a:ext cx="109728" cy="11155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7375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honest about the gap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80560" y="4855464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real detector the result is weak (F1 0.39) and idle turbines are invisible. This is a rigorous proof-of-concept, not a counting product.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hard negatives  ·  count benchmark vs EIA-860  ·  multi-date 5-day nowcast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Actually Works at 10 m? Wind-Turbine Cues in Sentinel-2</dc:title>
  <dc:subject>PptxGenJS Presentation</dc:subject>
  <dc:creator>CS131 Team</dc:creator>
  <cp:lastModifiedBy>CS131 Team</cp:lastModifiedBy>
  <cp:revision>1</cp:revision>
  <dcterms:created xsi:type="dcterms:W3CDTF">2026-06-01T23:30:19Z</dcterms:created>
  <dcterms:modified xsi:type="dcterms:W3CDTF">2026-06-01T23:30:19Z</dcterms:modified>
</cp:coreProperties>
</file>